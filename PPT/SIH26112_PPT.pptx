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871C-809C-44F1-8CF8-7C192AB13F5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19EB7-F05D-409F-A433-FE49693C0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3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54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77393"/>
            <a:ext cx="12192000" cy="480695"/>
          </a:xfrm>
          <a:custGeom>
            <a:avLst/>
            <a:gdLst/>
            <a:ahLst/>
            <a:cxnLst/>
            <a:rect l="l" t="t" r="r" b="b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54355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2143" y="236778"/>
            <a:ext cx="695406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897" y="1182141"/>
            <a:ext cx="11352530" cy="2216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35905" y="6445462"/>
            <a:ext cx="282575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360.co/3Vkj5l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nimation%20video.mp4" TargetMode="External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Optimization.mp4" TargetMode="External"/><Relationship Id="rId4" Type="http://schemas.openxmlformats.org/officeDocument/2006/relationships/hyperlink" Target="Stress%20analysis.mp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robotics.abm6074" TargetMode="External"/><Relationship Id="rId7" Type="http://schemas.openxmlformats.org/officeDocument/2006/relationships/hyperlink" Target="https://doi.org/10.1109/IROS45743.2020.934120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377221708001598" TargetMode="External"/><Relationship Id="rId5" Type="http://schemas.openxmlformats.org/officeDocument/2006/relationships/hyperlink" Target="https://doi.org/10.1109/ASYU50717.2020.9259882" TargetMode="External"/><Relationship Id="rId4" Type="http://schemas.openxmlformats.org/officeDocument/2006/relationships/hyperlink" Target="https://doi.org/10.1016/j.jestch.2023.10134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74534" y="198691"/>
            <a:ext cx="9674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75" dirty="0">
                <a:solidFill>
                  <a:srgbClr val="1E487C"/>
                </a:solidFill>
                <a:latin typeface="Georgia"/>
                <a:cs typeface="Georgia"/>
              </a:rPr>
              <a:t>SMART</a:t>
            </a:r>
            <a:r>
              <a:rPr sz="4000" spc="390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00" dirty="0">
                <a:solidFill>
                  <a:srgbClr val="1E487C"/>
                </a:solidFill>
                <a:latin typeface="Georgia"/>
                <a:cs typeface="Georgia"/>
              </a:rPr>
              <a:t>INDIA</a:t>
            </a:r>
            <a:r>
              <a:rPr sz="4000" spc="400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14" dirty="0">
                <a:solidFill>
                  <a:srgbClr val="1E487C"/>
                </a:solidFill>
                <a:latin typeface="Georgia"/>
                <a:cs typeface="Georgia"/>
              </a:rPr>
              <a:t>HACKATHON</a:t>
            </a:r>
            <a:r>
              <a:rPr sz="4000" spc="385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55" dirty="0">
                <a:solidFill>
                  <a:srgbClr val="1E487C"/>
                </a:solidFill>
                <a:latin typeface="Georgia"/>
                <a:cs typeface="Georgia"/>
              </a:rPr>
              <a:t>2026</a:t>
            </a:r>
            <a:endParaRPr sz="4000" dirty="0">
              <a:latin typeface="Georgia"/>
              <a:cs typeface="Georgi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656681" y="851395"/>
            <a:ext cx="4638675" cy="5154930"/>
            <a:chOff x="5656681" y="851395"/>
            <a:chExt cx="4638675" cy="5154930"/>
          </a:xfrm>
        </p:grpSpPr>
        <p:sp>
          <p:nvSpPr>
            <p:cNvPr id="3" name="object 3"/>
            <p:cNvSpPr/>
            <p:nvPr/>
          </p:nvSpPr>
          <p:spPr>
            <a:xfrm>
              <a:off x="5656681" y="851395"/>
              <a:ext cx="4638675" cy="5154930"/>
            </a:xfrm>
            <a:custGeom>
              <a:avLst/>
              <a:gdLst/>
              <a:ahLst/>
              <a:cxnLst/>
              <a:rect l="l" t="t" r="r" b="b"/>
              <a:pathLst>
                <a:path w="4638675" h="5154930">
                  <a:moveTo>
                    <a:pt x="1873072" y="0"/>
                  </a:moveTo>
                  <a:lnTo>
                    <a:pt x="1179715" y="0"/>
                  </a:lnTo>
                  <a:lnTo>
                    <a:pt x="1147053" y="5761"/>
                  </a:lnTo>
                  <a:lnTo>
                    <a:pt x="1091986" y="48606"/>
                  </a:lnTo>
                  <a:lnTo>
                    <a:pt x="1072083" y="83527"/>
                  </a:lnTo>
                  <a:lnTo>
                    <a:pt x="726122" y="880922"/>
                  </a:lnTo>
                  <a:lnTo>
                    <a:pt x="713363" y="920377"/>
                  </a:lnTo>
                  <a:lnTo>
                    <a:pt x="709115" y="962507"/>
                  </a:lnTo>
                  <a:lnTo>
                    <a:pt x="713363" y="1004548"/>
                  </a:lnTo>
                  <a:lnTo>
                    <a:pt x="726122" y="1044003"/>
                  </a:lnTo>
                  <a:lnTo>
                    <a:pt x="1072083" y="1841766"/>
                  </a:lnTo>
                  <a:lnTo>
                    <a:pt x="1092058" y="1876686"/>
                  </a:lnTo>
                  <a:lnTo>
                    <a:pt x="1118514" y="1903323"/>
                  </a:lnTo>
                  <a:lnTo>
                    <a:pt x="1092593" y="1962721"/>
                  </a:lnTo>
                  <a:lnTo>
                    <a:pt x="786599" y="2667965"/>
                  </a:lnTo>
                  <a:lnTo>
                    <a:pt x="769118" y="2713803"/>
                  </a:lnTo>
                  <a:lnTo>
                    <a:pt x="756631" y="2761970"/>
                  </a:lnTo>
                  <a:lnTo>
                    <a:pt x="749139" y="2811690"/>
                  </a:lnTo>
                  <a:lnTo>
                    <a:pt x="746642" y="2862186"/>
                  </a:lnTo>
                  <a:lnTo>
                    <a:pt x="749139" y="2912682"/>
                  </a:lnTo>
                  <a:lnTo>
                    <a:pt x="756631" y="2962402"/>
                  </a:lnTo>
                  <a:lnTo>
                    <a:pt x="769118" y="3010569"/>
                  </a:lnTo>
                  <a:lnTo>
                    <a:pt x="786599" y="3056407"/>
                  </a:lnTo>
                  <a:lnTo>
                    <a:pt x="1610283" y="4955768"/>
                  </a:lnTo>
                  <a:lnTo>
                    <a:pt x="1635778" y="5005560"/>
                  </a:lnTo>
                  <a:lnTo>
                    <a:pt x="1665921" y="5049074"/>
                  </a:lnTo>
                  <a:lnTo>
                    <a:pt x="1700159" y="5085807"/>
                  </a:lnTo>
                  <a:lnTo>
                    <a:pt x="1737936" y="5115253"/>
                  </a:lnTo>
                  <a:lnTo>
                    <a:pt x="1778699" y="5136910"/>
                  </a:lnTo>
                  <a:lnTo>
                    <a:pt x="1821893" y="5150274"/>
                  </a:lnTo>
                  <a:lnTo>
                    <a:pt x="1866963" y="5154841"/>
                  </a:lnTo>
                  <a:lnTo>
                    <a:pt x="3517912" y="5154841"/>
                  </a:lnTo>
                  <a:lnTo>
                    <a:pt x="3561859" y="5150274"/>
                  </a:lnTo>
                  <a:lnTo>
                    <a:pt x="3604583" y="5136910"/>
                  </a:lnTo>
                  <a:lnTo>
                    <a:pt x="3645259" y="5115253"/>
                  </a:lnTo>
                  <a:lnTo>
                    <a:pt x="3683063" y="5085807"/>
                  </a:lnTo>
                  <a:lnTo>
                    <a:pt x="3717171" y="5049074"/>
                  </a:lnTo>
                  <a:lnTo>
                    <a:pt x="3746757" y="5005560"/>
                  </a:lnTo>
                  <a:lnTo>
                    <a:pt x="3770998" y="4955768"/>
                  </a:lnTo>
                  <a:lnTo>
                    <a:pt x="4598276" y="3056407"/>
                  </a:lnTo>
                  <a:lnTo>
                    <a:pt x="4615878" y="3010569"/>
                  </a:lnTo>
                  <a:lnTo>
                    <a:pt x="4628451" y="2962402"/>
                  </a:lnTo>
                  <a:lnTo>
                    <a:pt x="4635995" y="2912682"/>
                  </a:lnTo>
                  <a:lnTo>
                    <a:pt x="4638509" y="2862186"/>
                  </a:lnTo>
                  <a:lnTo>
                    <a:pt x="4635995" y="2811690"/>
                  </a:lnTo>
                  <a:lnTo>
                    <a:pt x="4628451" y="2761970"/>
                  </a:lnTo>
                  <a:lnTo>
                    <a:pt x="4615878" y="2713803"/>
                  </a:lnTo>
                  <a:lnTo>
                    <a:pt x="4598276" y="2667965"/>
                  </a:lnTo>
                  <a:lnTo>
                    <a:pt x="4270719" y="1915922"/>
                  </a:lnTo>
                  <a:lnTo>
                    <a:pt x="1176832" y="1915922"/>
                  </a:lnTo>
                  <a:lnTo>
                    <a:pt x="1168478" y="1915578"/>
                  </a:lnTo>
                  <a:lnTo>
                    <a:pt x="1160189" y="1914526"/>
                  </a:lnTo>
                  <a:lnTo>
                    <a:pt x="1152033" y="1912734"/>
                  </a:lnTo>
                  <a:lnTo>
                    <a:pt x="1144079" y="1910168"/>
                  </a:lnTo>
                  <a:lnTo>
                    <a:pt x="1125004" y="1899361"/>
                  </a:lnTo>
                  <a:lnTo>
                    <a:pt x="1143355" y="1856524"/>
                  </a:lnTo>
                  <a:lnTo>
                    <a:pt x="1168552" y="1798929"/>
                  </a:lnTo>
                  <a:lnTo>
                    <a:pt x="1163878" y="1796046"/>
                  </a:lnTo>
                  <a:lnTo>
                    <a:pt x="1131781" y="1758281"/>
                  </a:lnTo>
                  <a:lnTo>
                    <a:pt x="816838" y="1034999"/>
                  </a:lnTo>
                  <a:lnTo>
                    <a:pt x="801989" y="962507"/>
                  </a:lnTo>
                  <a:lnTo>
                    <a:pt x="805701" y="925196"/>
                  </a:lnTo>
                  <a:lnTo>
                    <a:pt x="1123556" y="183248"/>
                  </a:lnTo>
                  <a:lnTo>
                    <a:pt x="1163832" y="128881"/>
                  </a:lnTo>
                  <a:lnTo>
                    <a:pt x="1218958" y="109080"/>
                  </a:lnTo>
                  <a:lnTo>
                    <a:pt x="1990423" y="109080"/>
                  </a:lnTo>
                  <a:lnTo>
                    <a:pt x="1979282" y="83527"/>
                  </a:lnTo>
                  <a:lnTo>
                    <a:pt x="1960004" y="48606"/>
                  </a:lnTo>
                  <a:lnTo>
                    <a:pt x="1934683" y="22323"/>
                  </a:lnTo>
                  <a:lnTo>
                    <a:pt x="1905108" y="5761"/>
                  </a:lnTo>
                  <a:lnTo>
                    <a:pt x="1873072" y="0"/>
                  </a:lnTo>
                  <a:close/>
                </a:path>
                <a:path w="4638675" h="5154930">
                  <a:moveTo>
                    <a:pt x="673557" y="3124809"/>
                  </a:moveTo>
                  <a:lnTo>
                    <a:pt x="272161" y="3124809"/>
                  </a:lnTo>
                  <a:lnTo>
                    <a:pt x="253315" y="3128201"/>
                  </a:lnTo>
                  <a:lnTo>
                    <a:pt x="221431" y="3153206"/>
                  </a:lnTo>
                  <a:lnTo>
                    <a:pt x="9715" y="3634930"/>
                  </a:lnTo>
                  <a:lnTo>
                    <a:pt x="0" y="3682264"/>
                  </a:lnTo>
                  <a:lnTo>
                    <a:pt x="2428" y="3706712"/>
                  </a:lnTo>
                  <a:lnTo>
                    <a:pt x="209880" y="4191127"/>
                  </a:lnTo>
                  <a:lnTo>
                    <a:pt x="236158" y="4226450"/>
                  </a:lnTo>
                  <a:lnTo>
                    <a:pt x="272161" y="4239361"/>
                  </a:lnTo>
                  <a:lnTo>
                    <a:pt x="673557" y="4239361"/>
                  </a:lnTo>
                  <a:lnTo>
                    <a:pt x="723879" y="4211270"/>
                  </a:lnTo>
                  <a:lnTo>
                    <a:pt x="936002" y="3729609"/>
                  </a:lnTo>
                  <a:lnTo>
                    <a:pt x="945984" y="3682264"/>
                  </a:lnTo>
                  <a:lnTo>
                    <a:pt x="943489" y="3657819"/>
                  </a:lnTo>
                  <a:lnTo>
                    <a:pt x="735114" y="3173399"/>
                  </a:lnTo>
                  <a:lnTo>
                    <a:pt x="709198" y="3137903"/>
                  </a:lnTo>
                  <a:lnTo>
                    <a:pt x="673557" y="3124809"/>
                  </a:lnTo>
                  <a:close/>
                </a:path>
                <a:path w="4638675" h="5154930">
                  <a:moveTo>
                    <a:pt x="3517912" y="569887"/>
                  </a:moveTo>
                  <a:lnTo>
                    <a:pt x="2192401" y="569887"/>
                  </a:lnTo>
                  <a:lnTo>
                    <a:pt x="2209317" y="608406"/>
                  </a:lnTo>
                  <a:lnTo>
                    <a:pt x="2323795" y="871562"/>
                  </a:lnTo>
                  <a:lnTo>
                    <a:pt x="2336353" y="911017"/>
                  </a:lnTo>
                  <a:lnTo>
                    <a:pt x="2340535" y="953147"/>
                  </a:lnTo>
                  <a:lnTo>
                    <a:pt x="2336353" y="995189"/>
                  </a:lnTo>
                  <a:lnTo>
                    <a:pt x="2323795" y="1034643"/>
                  </a:lnTo>
                  <a:lnTo>
                    <a:pt x="1976399" y="1832406"/>
                  </a:lnTo>
                  <a:lnTo>
                    <a:pt x="1957071" y="1867326"/>
                  </a:lnTo>
                  <a:lnTo>
                    <a:pt x="1902048" y="1910168"/>
                  </a:lnTo>
                  <a:lnTo>
                    <a:pt x="1870202" y="1915922"/>
                  </a:lnTo>
                  <a:lnTo>
                    <a:pt x="4270719" y="1915922"/>
                  </a:lnTo>
                  <a:lnTo>
                    <a:pt x="3770998" y="768604"/>
                  </a:lnTo>
                  <a:lnTo>
                    <a:pt x="3746757" y="718831"/>
                  </a:lnTo>
                  <a:lnTo>
                    <a:pt x="3717171" y="675368"/>
                  </a:lnTo>
                  <a:lnTo>
                    <a:pt x="3683063" y="638705"/>
                  </a:lnTo>
                  <a:lnTo>
                    <a:pt x="3645259" y="609334"/>
                  </a:lnTo>
                  <a:lnTo>
                    <a:pt x="3604583" y="587746"/>
                  </a:lnTo>
                  <a:lnTo>
                    <a:pt x="3561859" y="574433"/>
                  </a:lnTo>
                  <a:lnTo>
                    <a:pt x="3517912" y="569887"/>
                  </a:lnTo>
                  <a:close/>
                </a:path>
                <a:path w="4638675" h="5154930">
                  <a:moveTo>
                    <a:pt x="2097354" y="569887"/>
                  </a:moveTo>
                  <a:lnTo>
                    <a:pt x="1866963" y="569887"/>
                  </a:lnTo>
                  <a:lnTo>
                    <a:pt x="1821893" y="574433"/>
                  </a:lnTo>
                  <a:lnTo>
                    <a:pt x="1778699" y="587746"/>
                  </a:lnTo>
                  <a:lnTo>
                    <a:pt x="1737936" y="609334"/>
                  </a:lnTo>
                  <a:lnTo>
                    <a:pt x="1700159" y="638705"/>
                  </a:lnTo>
                  <a:lnTo>
                    <a:pt x="1665921" y="675368"/>
                  </a:lnTo>
                  <a:lnTo>
                    <a:pt x="1635778" y="718831"/>
                  </a:lnTo>
                  <a:lnTo>
                    <a:pt x="1610283" y="768604"/>
                  </a:lnTo>
                  <a:lnTo>
                    <a:pt x="1179360" y="1762569"/>
                  </a:lnTo>
                  <a:lnTo>
                    <a:pt x="1167472" y="1790280"/>
                  </a:lnTo>
                  <a:lnTo>
                    <a:pt x="1187272" y="1801444"/>
                  </a:lnTo>
                  <a:lnTo>
                    <a:pt x="1194355" y="1803809"/>
                  </a:lnTo>
                  <a:lnTo>
                    <a:pt x="1201540" y="1805495"/>
                  </a:lnTo>
                  <a:lnTo>
                    <a:pt x="1208792" y="1806505"/>
                  </a:lnTo>
                  <a:lnTo>
                    <a:pt x="1216075" y="1806841"/>
                  </a:lnTo>
                  <a:lnTo>
                    <a:pt x="1830958" y="1806841"/>
                  </a:lnTo>
                  <a:lnTo>
                    <a:pt x="1885365" y="1786909"/>
                  </a:lnTo>
                  <a:lnTo>
                    <a:pt x="1924913" y="1732686"/>
                  </a:lnTo>
                  <a:lnTo>
                    <a:pt x="2233079" y="1025639"/>
                  </a:lnTo>
                  <a:lnTo>
                    <a:pt x="2247928" y="953147"/>
                  </a:lnTo>
                  <a:lnTo>
                    <a:pt x="2244216" y="915836"/>
                  </a:lnTo>
                  <a:lnTo>
                    <a:pt x="2233079" y="880922"/>
                  </a:lnTo>
                  <a:lnTo>
                    <a:pt x="2120404" y="622439"/>
                  </a:lnTo>
                  <a:lnTo>
                    <a:pt x="2097354" y="569887"/>
                  </a:lnTo>
                  <a:close/>
                </a:path>
                <a:path w="4638675" h="5154930">
                  <a:moveTo>
                    <a:pt x="1990423" y="109080"/>
                  </a:moveTo>
                  <a:lnTo>
                    <a:pt x="1833841" y="109080"/>
                  </a:lnTo>
                  <a:lnTo>
                    <a:pt x="1862195" y="114187"/>
                  </a:lnTo>
                  <a:lnTo>
                    <a:pt x="1888421" y="128881"/>
                  </a:lnTo>
                  <a:lnTo>
                    <a:pt x="1910935" y="152216"/>
                  </a:lnTo>
                  <a:lnTo>
                    <a:pt x="1928152" y="183248"/>
                  </a:lnTo>
                  <a:lnTo>
                    <a:pt x="2057755" y="481330"/>
                  </a:lnTo>
                  <a:lnTo>
                    <a:pt x="2091956" y="559447"/>
                  </a:lnTo>
                  <a:lnTo>
                    <a:pt x="2186635" y="559447"/>
                  </a:lnTo>
                  <a:lnTo>
                    <a:pt x="2165756" y="511200"/>
                  </a:lnTo>
                  <a:lnTo>
                    <a:pt x="1990423" y="109080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761" y="1715782"/>
              <a:ext cx="3203257" cy="342538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77779" y="1250899"/>
            <a:ext cx="2468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139" y="2120232"/>
            <a:ext cx="96520" cy="105477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866" y="2286000"/>
            <a:ext cx="6612896" cy="248285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Font typeface="Arial" panose="020B0604020202020204" pitchFamily="34" charset="0"/>
              <a:buChar char="•"/>
            </a:pPr>
            <a:r>
              <a:rPr sz="1600" b="1" dirty="0">
                <a:latin typeface="Arial"/>
                <a:cs typeface="Arial"/>
              </a:rPr>
              <a:t>Problem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Statement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ID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lang="en-IN" sz="1600" dirty="0"/>
              <a:t>SIH26112</a:t>
            </a:r>
            <a:endParaRPr sz="1600" dirty="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b="1" dirty="0">
                <a:latin typeface="Arial"/>
                <a:cs typeface="Arial"/>
              </a:rPr>
              <a:t>Problem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Statement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Title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lang="en-IN" sz="1600" dirty="0"/>
              <a:t>Design and Develop a Modular Autonomous Mobile Robot (AMR) Platform for Smart Warehouse Automation</a:t>
            </a:r>
            <a:endParaRPr sz="16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65"/>
              </a:spcBef>
              <a:buFont typeface="Arial" panose="020B0604020202020204" pitchFamily="34" charset="0"/>
              <a:buChar char="•"/>
            </a:pPr>
            <a:r>
              <a:rPr sz="1600" b="1" dirty="0">
                <a:latin typeface="Arial"/>
                <a:cs typeface="Arial"/>
              </a:rPr>
              <a:t>Theme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lang="en-IN" sz="1600" b="1" dirty="0">
                <a:latin typeface="Arial"/>
                <a:cs typeface="Arial"/>
              </a:rPr>
              <a:t> </a:t>
            </a:r>
            <a:r>
              <a:rPr lang="en-IN" sz="1600" dirty="0"/>
              <a:t>Robotics and Drones</a:t>
            </a:r>
            <a:endParaRPr sz="1600" dirty="0">
              <a:latin typeface="Arial"/>
              <a:cs typeface="Arial"/>
            </a:endParaRPr>
          </a:p>
          <a:p>
            <a:pPr marL="298450" marR="3218815" indent="-285750">
              <a:lnSpc>
                <a:spcPct val="139800"/>
              </a:lnSpc>
              <a:buFont typeface="Arial" panose="020B0604020202020204" pitchFamily="34" charset="0"/>
              <a:buChar char="•"/>
            </a:pPr>
            <a:r>
              <a:rPr sz="1600" b="1" dirty="0">
                <a:latin typeface="Arial"/>
                <a:cs typeface="Arial"/>
              </a:rPr>
              <a:t>PS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Category</a:t>
            </a:r>
            <a:r>
              <a:rPr lang="en-IN" sz="1600" b="1" spc="-25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- </a:t>
            </a:r>
            <a:r>
              <a:rPr lang="en-IN" sz="1600" b="1" spc="-25" dirty="0">
                <a:latin typeface="Arial"/>
                <a:cs typeface="Arial"/>
              </a:rPr>
              <a:t> </a:t>
            </a:r>
            <a:r>
              <a:rPr lang="en-IN" sz="1600" spc="-25" dirty="0">
                <a:latin typeface="Arial"/>
                <a:cs typeface="Arial"/>
              </a:rPr>
              <a:t>Hardware</a:t>
            </a:r>
            <a:endParaRPr lang="en-IN" sz="1600" b="1" spc="-25" dirty="0">
              <a:latin typeface="Arial"/>
              <a:cs typeface="Arial"/>
            </a:endParaRPr>
          </a:p>
          <a:p>
            <a:pPr marL="298450" marR="3218815" indent="-285750">
              <a:lnSpc>
                <a:spcPct val="139800"/>
              </a:lnSpc>
              <a:buFont typeface="Arial" panose="020B0604020202020204" pitchFamily="34" charset="0"/>
              <a:buChar char="•"/>
            </a:pPr>
            <a:r>
              <a:rPr sz="1600" b="1" spc="-20" dirty="0">
                <a:latin typeface="Arial"/>
                <a:cs typeface="Arial"/>
              </a:rPr>
              <a:t>Team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lang="en-IN" sz="1600" b="1" dirty="0">
                <a:latin typeface="Arial"/>
                <a:cs typeface="Arial"/>
              </a:rPr>
              <a:t> </a:t>
            </a:r>
            <a:r>
              <a:rPr lang="en-IN" sz="1600" dirty="0">
                <a:latin typeface="Arial"/>
                <a:cs typeface="Arial"/>
              </a:rPr>
              <a:t>158819</a:t>
            </a:r>
            <a:endParaRPr sz="16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65"/>
              </a:spcBef>
              <a:buFont typeface="Arial" panose="020B0604020202020204" pitchFamily="34" charset="0"/>
              <a:buChar char="•"/>
            </a:pPr>
            <a:r>
              <a:rPr sz="1600" b="1" spc="-20" dirty="0">
                <a:latin typeface="Arial"/>
                <a:cs typeface="Arial"/>
              </a:rPr>
              <a:t>Team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Name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(Registered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portal)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–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Team_7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9685" y="529678"/>
            <a:ext cx="66563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Calibri"/>
                <a:cs typeface="Calibri"/>
              </a:rPr>
              <a:t>Team_7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39817"/>
            <a:ext cx="6954062" cy="1122512"/>
          </a:xfrm>
          <a:prstGeom prst="rect">
            <a:avLst/>
          </a:prstGeom>
        </p:spPr>
        <p:txBody>
          <a:bodyPr vert="horz" wrap="square" lIns="0" tIns="166776" rIns="0" bIns="0" rtlCol="0">
            <a:spAutoFit/>
          </a:bodyPr>
          <a:lstStyle/>
          <a:p>
            <a:pPr marL="934085" algn="ctr">
              <a:lnSpc>
                <a:spcPct val="100000"/>
              </a:lnSpc>
              <a:spcBef>
                <a:spcPts val="100"/>
              </a:spcBef>
            </a:pPr>
            <a:r>
              <a:rPr lang="en-US" sz="2200" dirty="0"/>
              <a:t>IDEA TITLE</a:t>
            </a:r>
            <a:br>
              <a:rPr lang="en-US" sz="2200" dirty="0"/>
            </a:br>
            <a:r>
              <a:rPr lang="en-IN" sz="2000" dirty="0"/>
              <a:t>Autonomous Multi-Level Rack Retrieval Robot for Adaptive Warehouse Automation</a:t>
            </a:r>
            <a:endParaRPr sz="22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816" y="1162329"/>
            <a:ext cx="7486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Segoe UI Symbol"/>
              <a:buChar char="❖"/>
              <a:tabLst>
                <a:tab pos="355600" algn="l"/>
              </a:tabLst>
            </a:pPr>
            <a:r>
              <a:rPr sz="2000" b="1" u="sng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Proposed</a:t>
            </a:r>
            <a:r>
              <a:rPr sz="2000" b="1" u="sng" spc="-75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Solution</a:t>
            </a:r>
            <a:r>
              <a:rPr sz="2000" b="1" u="sng" spc="-65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(Describe</a:t>
            </a:r>
            <a:r>
              <a:rPr sz="2000" b="1" u="sng" spc="-60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your</a:t>
            </a:r>
            <a:r>
              <a:rPr sz="2000" b="1" u="sng" spc="-60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10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Arial"/>
                <a:cs typeface="Arial"/>
              </a:rPr>
              <a:t>Idea/Solution/Prototype)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184" y="2447899"/>
            <a:ext cx="838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Microsoft Sans Serif"/>
                <a:cs typeface="Microsoft Sans Serif"/>
              </a:rPr>
              <a:t>•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184" y="2843456"/>
            <a:ext cx="83820" cy="4711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300" spc="-50" dirty="0">
                <a:latin typeface="Microsoft Sans Serif"/>
                <a:cs typeface="Microsoft Sans Serif"/>
              </a:rPr>
              <a:t>•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300" spc="-50" dirty="0">
                <a:latin typeface="Microsoft Sans Serif"/>
                <a:cs typeface="Microsoft Sans Serif"/>
              </a:rPr>
              <a:t>•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184" y="1789394"/>
            <a:ext cx="5574030" cy="173164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95"/>
              </a:spcBef>
              <a:buChar char="•"/>
              <a:tabLst>
                <a:tab pos="240665" algn="l"/>
              </a:tabLst>
            </a:pPr>
            <a:r>
              <a:rPr sz="1300" spc="-10" dirty="0">
                <a:latin typeface="Microsoft Sans Serif"/>
                <a:cs typeface="Microsoft Sans Serif"/>
              </a:rPr>
              <a:t>Conventional</a:t>
            </a:r>
            <a:r>
              <a:rPr sz="1300" spc="-8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AMRs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primarily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transport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items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at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floor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level.</a:t>
            </a:r>
            <a:endParaRPr sz="1300" dirty="0">
              <a:latin typeface="Microsoft Sans Serif"/>
              <a:cs typeface="Microsoft Sans Serif"/>
            </a:endParaRPr>
          </a:p>
          <a:p>
            <a:pPr marL="241300" marR="554355" indent="-228600">
              <a:lnSpc>
                <a:spcPct val="100000"/>
              </a:lnSpc>
              <a:spcBef>
                <a:spcPts val="190"/>
              </a:spcBef>
              <a:buChar char="•"/>
              <a:tabLst>
                <a:tab pos="241300" algn="l"/>
              </a:tabLst>
            </a:pPr>
            <a:r>
              <a:rPr sz="1300" spc="-25" dirty="0">
                <a:latin typeface="Microsoft Sans Serif"/>
                <a:cs typeface="Microsoft Sans Serif"/>
              </a:rPr>
              <a:t>Multi-</a:t>
            </a:r>
            <a:r>
              <a:rPr sz="1300" dirty="0">
                <a:latin typeface="Microsoft Sans Serif"/>
                <a:cs typeface="Microsoft Sans Serif"/>
              </a:rPr>
              <a:t>level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racks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require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mechanism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to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access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elevated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storage locations.</a:t>
            </a:r>
            <a:endParaRPr sz="1300" dirty="0">
              <a:latin typeface="Microsoft Sans Serif"/>
              <a:cs typeface="Microsoft Sans Serif"/>
            </a:endParaRPr>
          </a:p>
          <a:p>
            <a:pPr marL="241300" marR="462280">
              <a:lnSpc>
                <a:spcPct val="100000"/>
              </a:lnSpc>
              <a:spcBef>
                <a:spcPts val="190"/>
              </a:spcBef>
            </a:pPr>
            <a:r>
              <a:rPr sz="1300" spc="-10" dirty="0">
                <a:latin typeface="Microsoft Sans Serif"/>
                <a:cs typeface="Microsoft Sans Serif"/>
              </a:rPr>
              <a:t>Fixed</a:t>
            </a:r>
            <a:r>
              <a:rPr sz="1300" spc="-8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AS/RS</a:t>
            </a:r>
            <a:r>
              <a:rPr sz="1300" spc="-5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solutions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are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typically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tied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to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dedicated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and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aisle infrastructure.</a:t>
            </a:r>
            <a:endParaRPr sz="1300" dirty="0">
              <a:latin typeface="Microsoft Sans Serif"/>
              <a:cs typeface="Microsoft Sans Serif"/>
            </a:endParaRPr>
          </a:p>
          <a:p>
            <a:pPr marL="241300" marR="5080">
              <a:lnSpc>
                <a:spcPct val="106000"/>
              </a:lnSpc>
              <a:spcBef>
                <a:spcPts val="95"/>
              </a:spcBef>
            </a:pPr>
            <a:r>
              <a:rPr sz="1300" spc="-10" dirty="0">
                <a:latin typeface="Microsoft Sans Serif"/>
                <a:cs typeface="Microsoft Sans Serif"/>
              </a:rPr>
              <a:t>Different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heights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require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flexible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vertical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positioning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during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retrieval. </a:t>
            </a:r>
            <a:r>
              <a:rPr sz="1300" dirty="0">
                <a:latin typeface="Microsoft Sans Serif"/>
                <a:cs typeface="Microsoft Sans Serif"/>
              </a:rPr>
              <a:t>Existing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warehouses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need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solutions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that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can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integrate</a:t>
            </a:r>
            <a:r>
              <a:rPr sz="1300" spc="-4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without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major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rack </a:t>
            </a:r>
            <a:r>
              <a:rPr sz="1300" spc="-10" dirty="0">
                <a:latin typeface="Microsoft Sans Serif"/>
                <a:cs typeface="Microsoft Sans Serif"/>
              </a:rPr>
              <a:t>modification.</a:t>
            </a:r>
            <a:endParaRPr sz="13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184" y="1591094"/>
            <a:ext cx="72783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9325" algn="l"/>
              </a:tabLst>
            </a:pPr>
            <a:r>
              <a:rPr sz="1300" b="1" dirty="0">
                <a:latin typeface="Arial"/>
                <a:cs typeface="Arial"/>
              </a:rPr>
              <a:t>The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Problem:</a:t>
            </a:r>
            <a:r>
              <a:rPr sz="1300" b="1" dirty="0">
                <a:latin typeface="Arial"/>
                <a:cs typeface="Arial"/>
              </a:rPr>
              <a:t>	Key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Innovation: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7216" y="1789394"/>
            <a:ext cx="4511675" cy="11398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Mobile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+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lift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+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telescopic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reach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in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one</a:t>
            </a:r>
            <a:r>
              <a:rPr sz="1300" spc="-20" dirty="0">
                <a:latin typeface="Microsoft Sans Serif"/>
                <a:cs typeface="Microsoft Sans Serif"/>
              </a:rPr>
              <a:t> robot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0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Automated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rack-</a:t>
            </a:r>
            <a:r>
              <a:rPr sz="1300" dirty="0">
                <a:latin typeface="Microsoft Sans Serif"/>
                <a:cs typeface="Microsoft Sans Serif"/>
              </a:rPr>
              <a:t>level</a:t>
            </a:r>
            <a:r>
              <a:rPr sz="1300" spc="-4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access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across</a:t>
            </a:r>
            <a:r>
              <a:rPr sz="1300" spc="-4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different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heights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Adaptive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gripping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for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varied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item/box</a:t>
            </a:r>
            <a:r>
              <a:rPr sz="1300" spc="-45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sizes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Minimal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modification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for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deployment</a:t>
            </a:r>
            <a:endParaRPr sz="13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Modular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mechanical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architecture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for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scalable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development</a:t>
            </a:r>
            <a:endParaRPr sz="13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7216" y="3004095"/>
            <a:ext cx="11207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Arial"/>
                <a:cs typeface="Arial"/>
              </a:rPr>
              <a:t>How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It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Works: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184" y="3571395"/>
            <a:ext cx="4115435" cy="13627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300" b="1" dirty="0">
                <a:latin typeface="Arial"/>
                <a:cs typeface="Arial"/>
              </a:rPr>
              <a:t>Our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Solution:</a:t>
            </a:r>
            <a:endParaRPr sz="13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90"/>
              </a:spcBef>
              <a:buChar char="•"/>
              <a:tabLst>
                <a:tab pos="240665" algn="l"/>
              </a:tabLst>
            </a:pPr>
            <a:r>
              <a:rPr sz="1300" spc="-10" dirty="0">
                <a:latin typeface="Microsoft Sans Serif"/>
                <a:cs typeface="Microsoft Sans Serif"/>
              </a:rPr>
              <a:t>Autonomous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robot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for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item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retrieval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Rising</a:t>
            </a:r>
            <a:r>
              <a:rPr sz="1300" spc="-5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platform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reaches</a:t>
            </a:r>
            <a:r>
              <a:rPr sz="1300" spc="-5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the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required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rack</a:t>
            </a:r>
            <a:r>
              <a:rPr sz="1300" spc="-5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level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spc="-25" dirty="0">
                <a:latin typeface="Microsoft Sans Serif"/>
                <a:cs typeface="Microsoft Sans Serif"/>
              </a:rPr>
              <a:t>Telescopic </a:t>
            </a:r>
            <a:r>
              <a:rPr sz="1300" dirty="0">
                <a:latin typeface="Microsoft Sans Serif"/>
                <a:cs typeface="Microsoft Sans Serif"/>
              </a:rPr>
              <a:t>arm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extends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into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the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rack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spc="-10" dirty="0">
                <a:latin typeface="Microsoft Sans Serif"/>
                <a:cs typeface="Microsoft Sans Serif"/>
              </a:rPr>
              <a:t>Adjustable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gripper</a:t>
            </a:r>
            <a:r>
              <a:rPr sz="1300" spc="-1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accommodates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different</a:t>
            </a:r>
            <a:r>
              <a:rPr sz="1300" spc="-1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box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sizes</a:t>
            </a:r>
            <a:endParaRPr sz="13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Microsoft Sans Serif"/>
                <a:cs typeface="Microsoft Sans Serif"/>
              </a:rPr>
              <a:t>Designed</a:t>
            </a:r>
            <a:r>
              <a:rPr sz="1300" spc="-6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for</a:t>
            </a:r>
            <a:r>
              <a:rPr sz="1300" spc="-6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existing</a:t>
            </a:r>
            <a:r>
              <a:rPr sz="1300" spc="-6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warehouse</a:t>
            </a:r>
            <a:r>
              <a:rPr sz="1300" spc="-60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racks</a:t>
            </a:r>
            <a:endParaRPr sz="130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6F91A6-A169-B017-DE64-823C3AA07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70" y="3336749"/>
            <a:ext cx="2704329" cy="27606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E4040C-D3F5-A4B6-1E63-9BF104CB47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968" y="3838402"/>
            <a:ext cx="3124200" cy="1757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46888"/>
            <a:ext cx="1252728" cy="8229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030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4688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Calibri"/>
                <a:cs typeface="Calibri"/>
              </a:rPr>
              <a:t>           Team_7</a:t>
            </a:r>
            <a:endParaRPr lang="en-IN" sz="1200" dirty="0">
              <a:latin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8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0"/>
            <a:ext cx="2240280" cy="1014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34440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34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Hardware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691640"/>
          <a:ext cx="694944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AMR chassis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Adjustable rubber-padded gripper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drivers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/ depth sensing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&amp; wheel encoders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Proximity / safety sensors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Telescopic arm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Raspberry Pi 5 controller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1234440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12344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Software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7772400" y="1691640"/>
          <a:ext cx="3977640" cy="1920240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Rviz2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Autodesk Fusion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Gazebo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MoveIt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Codesys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3840480"/>
            <a:ext cx="1129284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384048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System Workflow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1783080" y="4553712"/>
            <a:ext cx="8439912" cy="0"/>
          </a:xfrm>
          <a:prstGeom prst="line">
            <a:avLst/>
          </a:prstGeom>
          <a:noFill/>
          <a:ln w="31750">
            <a:solidFill>
              <a:srgbClr val="0070C0"/>
            </a:solidFill>
            <a:prstDash val="dash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57200" y="4553712"/>
            <a:ext cx="2651760" cy="1618488"/>
          </a:xfrm>
          <a:prstGeom prst="roundRect">
            <a:avLst>
              <a:gd name="adj" fmla="val 6780"/>
            </a:avLst>
          </a:prstGeom>
          <a:solidFill>
            <a:srgbClr val="EAF3FB"/>
          </a:solidFill>
          <a:ln w="12700">
            <a:solidFill>
              <a:srgbClr val="B9D5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2960" y="5111496"/>
            <a:ext cx="0" cy="786384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</a:ln>
        </p:spPr>
      </p:sp>
      <p:sp>
        <p:nvSpPr>
          <p:cNvPr id="17" name="Shape 12"/>
          <p:cNvSpPr/>
          <p:nvPr/>
        </p:nvSpPr>
        <p:spPr>
          <a:xfrm>
            <a:off x="749808" y="5038344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87552" y="4937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9808" y="5431536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87552" y="5330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49808" y="5824728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87552" y="5724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600200" y="4370832"/>
            <a:ext cx="365760" cy="365760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60020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337560" y="4553712"/>
            <a:ext cx="2651760" cy="1618488"/>
          </a:xfrm>
          <a:prstGeom prst="roundRect">
            <a:avLst>
              <a:gd name="adj" fmla="val 6780"/>
            </a:avLst>
          </a:prstGeom>
          <a:solidFill>
            <a:srgbClr val="EAF3FB"/>
          </a:solidFill>
          <a:ln w="12700">
            <a:solidFill>
              <a:srgbClr val="B9D5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703320" y="5111496"/>
            <a:ext cx="0" cy="393192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</a:ln>
        </p:spPr>
      </p:sp>
      <p:sp>
        <p:nvSpPr>
          <p:cNvPr id="27" name="Shape 22"/>
          <p:cNvSpPr/>
          <p:nvPr/>
        </p:nvSpPr>
        <p:spPr>
          <a:xfrm>
            <a:off x="3630168" y="5038344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867912" y="4937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ALIGNMENT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30168" y="5431536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867912" y="5330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LIFT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480560" y="4370832"/>
            <a:ext cx="365760" cy="365760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48056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17920" y="4553712"/>
            <a:ext cx="2651760" cy="1618488"/>
          </a:xfrm>
          <a:prstGeom prst="roundRect">
            <a:avLst>
              <a:gd name="adj" fmla="val 6780"/>
            </a:avLst>
          </a:prstGeom>
          <a:solidFill>
            <a:srgbClr val="EAF3FB"/>
          </a:solidFill>
          <a:ln w="12700">
            <a:solidFill>
              <a:srgbClr val="B9D5E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583680" y="5111496"/>
            <a:ext cx="0" cy="393192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</a:ln>
        </p:spPr>
      </p:sp>
      <p:sp>
        <p:nvSpPr>
          <p:cNvPr id="35" name="Shape 30"/>
          <p:cNvSpPr/>
          <p:nvPr/>
        </p:nvSpPr>
        <p:spPr>
          <a:xfrm>
            <a:off x="6510528" y="5038344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748272" y="4937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TELESCOPIC EXTENSION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510528" y="5431536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748272" y="5330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GRIPPING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360920" y="4370832"/>
            <a:ext cx="365760" cy="365760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36092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9098280" y="4553712"/>
            <a:ext cx="2651760" cy="1618488"/>
          </a:xfrm>
          <a:prstGeom prst="roundRect">
            <a:avLst>
              <a:gd name="adj" fmla="val 6780"/>
            </a:avLst>
          </a:prstGeom>
          <a:solidFill>
            <a:srgbClr val="EAF3FB"/>
          </a:solidFill>
          <a:ln w="12700">
            <a:solidFill>
              <a:srgbClr val="B9D5E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464040" y="5111496"/>
            <a:ext cx="0" cy="393192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</a:ln>
        </p:spPr>
      </p:sp>
      <p:sp>
        <p:nvSpPr>
          <p:cNvPr id="43" name="Shape 38"/>
          <p:cNvSpPr/>
          <p:nvPr/>
        </p:nvSpPr>
        <p:spPr>
          <a:xfrm>
            <a:off x="9390888" y="5038344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628632" y="4937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9390888" y="5431536"/>
            <a:ext cx="146304" cy="14630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628632" y="5330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PLACEMENT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10241280" y="4370832"/>
            <a:ext cx="365760" cy="365760"/>
          </a:xfrm>
          <a:prstGeom prst="ellipse">
            <a:avLst/>
          </a:prstGeom>
          <a:solidFill>
            <a:srgbClr val="1F3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024128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743200" y="6345936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11155680" y="63459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9122" y="531172"/>
            <a:ext cx="64773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Calibri"/>
                <a:cs typeface="Calibri"/>
              </a:rPr>
              <a:t>Team_7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9122" y="2592576"/>
            <a:ext cx="166497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4200" baseline="2976" dirty="0">
                <a:latin typeface="Microsoft Sans Serif"/>
                <a:cs typeface="Microsoft Sans Serif"/>
              </a:rPr>
              <a:t>•</a:t>
            </a:r>
            <a:r>
              <a:rPr sz="4200" spc="157" baseline="2976" dirty="0">
                <a:latin typeface="Microsoft Sans Serif"/>
                <a:cs typeface="Microsoft Sans Serif"/>
              </a:rPr>
              <a:t>  </a:t>
            </a:r>
            <a:r>
              <a:rPr sz="2800" spc="-20" dirty="0">
                <a:latin typeface="Microsoft Sans Serif"/>
                <a:cs typeface="Microsoft Sans Serif"/>
              </a:rPr>
              <a:t>Analysis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1111" y="2612020"/>
            <a:ext cx="303530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Microsoft Sans Serif"/>
                <a:cs typeface="Microsoft Sans Serif"/>
              </a:rPr>
              <a:t>of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feasibility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of</a:t>
            </a:r>
            <a:r>
              <a:rPr sz="2800" spc="-50" dirty="0">
                <a:latin typeface="Microsoft Sans Serif"/>
                <a:cs typeface="Microsoft Sans Serif"/>
              </a:rPr>
              <a:t> t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4514" y="2612020"/>
            <a:ext cx="116459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Microsoft Sans Serif"/>
                <a:cs typeface="Microsoft Sans Serif"/>
              </a:rPr>
              <a:t>he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idea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122" y="3019538"/>
            <a:ext cx="172338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4200" baseline="2976" dirty="0">
                <a:latin typeface="Microsoft Sans Serif"/>
                <a:cs typeface="Microsoft Sans Serif"/>
              </a:rPr>
              <a:t>•</a:t>
            </a:r>
            <a:r>
              <a:rPr sz="4200" spc="172" baseline="2976" dirty="0">
                <a:latin typeface="Microsoft Sans Serif"/>
                <a:cs typeface="Microsoft Sans Serif"/>
              </a:rPr>
              <a:t>  </a:t>
            </a:r>
            <a:r>
              <a:rPr sz="2800" spc="-20" dirty="0">
                <a:latin typeface="Microsoft Sans Serif"/>
                <a:cs typeface="Microsoft Sans Serif"/>
              </a:rPr>
              <a:t>Potential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0879" y="3038981"/>
            <a:ext cx="303784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Microsoft Sans Serif"/>
                <a:cs typeface="Microsoft Sans Serif"/>
              </a:rPr>
              <a:t>challenges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risk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8161" y="3038981"/>
            <a:ext cx="17843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spc="-50" dirty="0">
                <a:latin typeface="Microsoft Sans Serif"/>
                <a:cs typeface="Microsoft Sans Serif"/>
              </a:rPr>
              <a:t>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122" y="3446499"/>
            <a:ext cx="176276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4200" baseline="2976" dirty="0">
                <a:latin typeface="Microsoft Sans Serif"/>
                <a:cs typeface="Microsoft Sans Serif"/>
              </a:rPr>
              <a:t>•</a:t>
            </a:r>
            <a:r>
              <a:rPr sz="4200" spc="172" baseline="2976" dirty="0">
                <a:latin typeface="Microsoft Sans Serif"/>
                <a:cs typeface="Microsoft Sans Serif"/>
              </a:rPr>
              <a:t>  </a:t>
            </a:r>
            <a:r>
              <a:rPr sz="2800" spc="-20" dirty="0">
                <a:latin typeface="Microsoft Sans Serif"/>
                <a:cs typeface="Microsoft Sans Serif"/>
              </a:rPr>
              <a:t>Strategie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1576" y="3465930"/>
            <a:ext cx="301752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Microsoft Sans Serif"/>
                <a:cs typeface="Microsoft Sans Serif"/>
              </a:rPr>
              <a:t>s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for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overcoming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th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7702" y="3465930"/>
            <a:ext cx="236791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dirty="0">
                <a:latin typeface="Microsoft Sans Serif"/>
                <a:cs typeface="Microsoft Sans Serif"/>
              </a:rPr>
              <a:t>ese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challenges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9961" y="2230919"/>
            <a:ext cx="8199755" cy="1763395"/>
          </a:xfrm>
          <a:custGeom>
            <a:avLst/>
            <a:gdLst/>
            <a:ahLst/>
            <a:cxnLst/>
            <a:rect l="l" t="t" r="r" b="b"/>
            <a:pathLst>
              <a:path w="8199755" h="1763395">
                <a:moveTo>
                  <a:pt x="8199717" y="0"/>
                </a:moveTo>
                <a:lnTo>
                  <a:pt x="5099761" y="0"/>
                </a:lnTo>
                <a:lnTo>
                  <a:pt x="1999792" y="0"/>
                </a:lnTo>
                <a:lnTo>
                  <a:pt x="0" y="0"/>
                </a:lnTo>
                <a:lnTo>
                  <a:pt x="0" y="440994"/>
                </a:lnTo>
                <a:lnTo>
                  <a:pt x="0" y="882002"/>
                </a:lnTo>
                <a:lnTo>
                  <a:pt x="0" y="1322997"/>
                </a:lnTo>
                <a:lnTo>
                  <a:pt x="0" y="1762925"/>
                </a:lnTo>
                <a:lnTo>
                  <a:pt x="1999792" y="1762925"/>
                </a:lnTo>
                <a:lnTo>
                  <a:pt x="5099761" y="1762925"/>
                </a:lnTo>
                <a:lnTo>
                  <a:pt x="8199717" y="1762925"/>
                </a:lnTo>
                <a:lnTo>
                  <a:pt x="8199717" y="1322997"/>
                </a:lnTo>
                <a:lnTo>
                  <a:pt x="8199717" y="882002"/>
                </a:lnTo>
                <a:lnTo>
                  <a:pt x="8199717" y="440994"/>
                </a:lnTo>
                <a:lnTo>
                  <a:pt x="81997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98161"/>
              </p:ext>
            </p:extLst>
          </p:nvPr>
        </p:nvGraphicFramePr>
        <p:xfrm>
          <a:off x="395833" y="1345869"/>
          <a:ext cx="11222648" cy="3452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881">
                <a:tc>
                  <a:txBody>
                    <a:bodyPr/>
                    <a:lstStyle/>
                    <a:p>
                      <a:pPr marL="66611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ASPECT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MITIGATION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 marR="912494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b="1" spc="-10" dirty="0">
                          <a:latin typeface="Arial"/>
                          <a:cs typeface="Arial"/>
                        </a:rPr>
                        <a:t>Navigation </a:t>
                      </a:r>
                      <a:r>
                        <a:rPr sz="1300" b="1" spc="-50" dirty="0">
                          <a:latin typeface="Arial"/>
                          <a:cs typeface="Arial"/>
                        </a:rPr>
                        <a:t>&amp;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localization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57150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ROS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3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LiDAR</a:t>
                      </a:r>
                      <a:r>
                        <a:rPr sz="13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navigation</a:t>
                      </a:r>
                      <a:r>
                        <a:rPr sz="13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well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established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Dynamic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obstacles,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localization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error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Sensor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fusion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obstacle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detection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Rack</a:t>
                      </a:r>
                      <a:r>
                        <a:rPr sz="13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alignment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93395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Depth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proximity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sensing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supports alignment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Lateral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offset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rack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Closed-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loop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fine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alignment</a:t>
                      </a:r>
                      <a:r>
                        <a:rPr sz="13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before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lift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Lifting</a:t>
                      </a:r>
                      <a:r>
                        <a:rPr sz="13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mechanism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795655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Actuated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linear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lifting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readily implementable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Load</a:t>
                      </a:r>
                      <a:r>
                        <a:rPr sz="13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variation,</a:t>
                      </a:r>
                      <a:r>
                        <a:rPr sz="13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mechanical deflection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5593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Payload</a:t>
                      </a:r>
                      <a:r>
                        <a:rPr sz="13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limits</a:t>
                      </a:r>
                      <a:r>
                        <a:rPr sz="13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structural</a:t>
                      </a:r>
                      <a:r>
                        <a:rPr sz="13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+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position</a:t>
                      </a:r>
                      <a:r>
                        <a:rPr sz="13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feedback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 marR="56769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b="1" spc="-20" dirty="0">
                          <a:latin typeface="Arial"/>
                          <a:cs typeface="Arial"/>
                        </a:rPr>
                        <a:t>Telescopic</a:t>
                      </a:r>
                      <a:r>
                        <a:rPr sz="13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latin typeface="Arial"/>
                          <a:cs typeface="Arial"/>
                        </a:rPr>
                        <a:t>arm</a:t>
                      </a:r>
                      <a:r>
                        <a:rPr sz="13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50" dirty="0">
                          <a:latin typeface="Arial"/>
                          <a:cs typeface="Arial"/>
                        </a:rPr>
                        <a:t>&amp;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gripper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2860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Controlled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linear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reach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adjustable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grip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Cantilever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load,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varied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item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sizes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5527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Payload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limits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support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locking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grip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13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limits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881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Stability</a:t>
                      </a:r>
                      <a:r>
                        <a:rPr sz="13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3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payload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Low-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mounted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battery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supports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stability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CG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shift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during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arm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extension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Wide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base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low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CG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extension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limits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b="1" spc="-10" dirty="0">
                          <a:latin typeface="Arial"/>
                          <a:cs typeface="Arial"/>
                        </a:rPr>
                        <a:t>Safety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Sensors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support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safe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operation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Collision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people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racks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657225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Obstacle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sensing</a:t>
                      </a:r>
                      <a:r>
                        <a:rPr sz="13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speed</a:t>
                      </a:r>
                      <a:r>
                        <a:rPr sz="13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limits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+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emergency</a:t>
                      </a:r>
                      <a:r>
                        <a:rPr sz="13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stop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62">
                <a:tc>
                  <a:txBody>
                    <a:bodyPr/>
                    <a:lstStyle/>
                    <a:p>
                      <a:pPr marL="71755" marR="62230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b="1" spc="-10" dirty="0">
                          <a:latin typeface="Arial"/>
                          <a:cs typeface="Arial"/>
                        </a:rPr>
                        <a:t>Manufacturing</a:t>
                      </a:r>
                      <a:r>
                        <a:rPr sz="13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50" dirty="0">
                          <a:latin typeface="Arial"/>
                          <a:cs typeface="Arial"/>
                        </a:rPr>
                        <a:t>&amp; </a:t>
                      </a:r>
                      <a:r>
                        <a:rPr sz="1300" b="1" spc="-10" dirty="0">
                          <a:latin typeface="Arial"/>
                          <a:cs typeface="Arial"/>
                        </a:rPr>
                        <a:t>maintenance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868680">
                        <a:lnSpc>
                          <a:spcPts val="145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Modular</a:t>
                      </a:r>
                      <a:r>
                        <a:rPr sz="13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design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standard components</a:t>
                      </a:r>
                      <a:endParaRPr sz="13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Wear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moving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parts,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alignment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drift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Modular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parts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periodic</a:t>
                      </a:r>
                      <a:r>
                        <a:rPr sz="13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calibration</a:t>
                      </a:r>
                      <a:endParaRPr sz="13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E240B3-F67C-36A1-F63B-657E2E9F0F62}"/>
              </a:ext>
            </a:extLst>
          </p:cNvPr>
          <p:cNvSpPr txBox="1"/>
          <p:nvPr/>
        </p:nvSpPr>
        <p:spPr>
          <a:xfrm>
            <a:off x="198614" y="5063942"/>
            <a:ext cx="11536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Assembly file - </a:t>
            </a:r>
            <a:r>
              <a:rPr lang="en-IN" sz="1400" dirty="0">
                <a:hlinkClick r:id="rId3"/>
              </a:rPr>
              <a:t>https://a360.co/3Vkj5lU</a:t>
            </a:r>
            <a:endParaRPr lang="en-IN" sz="1400" dirty="0"/>
          </a:p>
          <a:p>
            <a:r>
              <a:rPr lang="en-IN" sz="1400" dirty="0"/>
              <a:t>For full details of the design with the topology details visit GitHub - https://github.com/Yuvaraaj-007/SiH-26112/tree/main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6422" y="532078"/>
            <a:ext cx="106202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Calibri"/>
                <a:cs typeface="Calibri"/>
              </a:rPr>
              <a:t>Team_7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6422" y="1305267"/>
            <a:ext cx="9321800" cy="2259593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spc="-10" dirty="0">
                <a:latin typeface="Arial"/>
                <a:cs typeface="Arial"/>
              </a:rPr>
              <a:t>Warehouse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Operations: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Automated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multi-</a:t>
            </a:r>
            <a:r>
              <a:rPr sz="1600" dirty="0">
                <a:latin typeface="Microsoft Sans Serif"/>
                <a:cs typeface="Microsoft Sans Serif"/>
              </a:rPr>
              <a:t>level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retrieval;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less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repetitive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manual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handling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dirty="0">
                <a:latin typeface="Arial"/>
                <a:cs typeface="Arial"/>
              </a:rPr>
              <a:t>Productivity: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Continuous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material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movement;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consistent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retrieval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workflow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dirty="0">
                <a:latin typeface="Arial"/>
                <a:cs typeface="Arial"/>
              </a:rPr>
              <a:t>Safety: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Less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manual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heavy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handling;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controlled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robotic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retrieval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spc="-10" dirty="0">
                <a:latin typeface="Arial"/>
                <a:cs typeface="Arial"/>
              </a:rPr>
              <a:t>Infrastructure: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Built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for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existing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racks;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minimal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rack</a:t>
            </a:r>
            <a:r>
              <a:rPr sz="1600" spc="-10" dirty="0">
                <a:latin typeface="Microsoft Sans Serif"/>
                <a:cs typeface="Microsoft Sans Serif"/>
              </a:rPr>
              <a:t> modification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dirty="0">
                <a:latin typeface="Arial"/>
                <a:cs typeface="Arial"/>
              </a:rPr>
              <a:t>Scalability: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Modular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mechanical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design;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adapts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warehouse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layouts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1600" b="1" dirty="0">
                <a:latin typeface="Arial"/>
                <a:cs typeface="Arial"/>
              </a:rPr>
              <a:t>Economic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Potential: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Potentially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less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manual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handling;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reusable</a:t>
            </a:r>
            <a:r>
              <a:rPr sz="1600" spc="-20" dirty="0">
                <a:latin typeface="Microsoft Sans Serif"/>
                <a:cs typeface="Microsoft Sans Serif"/>
              </a:rPr>
              <a:t> multi-</a:t>
            </a:r>
            <a:r>
              <a:rPr sz="1600" dirty="0">
                <a:latin typeface="Microsoft Sans Serif"/>
                <a:cs typeface="Microsoft Sans Serif"/>
              </a:rPr>
              <a:t>task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platform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E0BD71-DFFE-944F-D4A6-387129B9ED63}"/>
              </a:ext>
            </a:extLst>
          </p:cNvPr>
          <p:cNvSpPr txBox="1"/>
          <p:nvPr/>
        </p:nvSpPr>
        <p:spPr>
          <a:xfrm>
            <a:off x="171792" y="4191000"/>
            <a:ext cx="3886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assembly animation </a:t>
            </a:r>
            <a:r>
              <a:rPr lang="en-IN" dirty="0">
                <a:hlinkClick r:id="rId3" action="ppaction://hlinkfile"/>
              </a:rPr>
              <a:t>click here</a:t>
            </a:r>
            <a:endParaRPr lang="en-IN" dirty="0"/>
          </a:p>
          <a:p>
            <a:r>
              <a:rPr lang="en-IN" dirty="0"/>
              <a:t>For stress analysis video </a:t>
            </a:r>
            <a:r>
              <a:rPr lang="en-IN" dirty="0">
                <a:hlinkClick r:id="rId4" action="ppaction://hlinkfile"/>
              </a:rPr>
              <a:t>click here</a:t>
            </a:r>
            <a:endParaRPr lang="en-IN" dirty="0"/>
          </a:p>
          <a:p>
            <a:r>
              <a:rPr lang="en-IN" dirty="0"/>
              <a:t>For optimization of design </a:t>
            </a:r>
            <a:r>
              <a:rPr lang="en-IN" dirty="0">
                <a:hlinkClick r:id="rId5" action="ppaction://hlinkfile"/>
              </a:rPr>
              <a:t>click here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C2F618-8410-10F5-B94B-0B0DB36137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73" y="3809507"/>
            <a:ext cx="4017054" cy="22595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E6CE63-3C44-1803-23AF-DAD34FC06A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3807049"/>
            <a:ext cx="3915970" cy="2202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995" y="523798"/>
            <a:ext cx="64773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Calibri"/>
                <a:cs typeface="Calibri"/>
              </a:rPr>
              <a:t>Team_7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REFERENCES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6897" y="1182141"/>
            <a:ext cx="11352530" cy="3849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2012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13995" algn="l"/>
              </a:tabLst>
            </a:pPr>
            <a:r>
              <a:rPr sz="1800" b="1" dirty="0">
                <a:latin typeface="Arial"/>
                <a:cs typeface="Arial"/>
              </a:rPr>
              <a:t>ROS</a:t>
            </a:r>
            <a:r>
              <a:rPr sz="1800" b="1" spc="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—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Robotics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Middleware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dirty="0" err="1"/>
              <a:t>Macenski</a:t>
            </a:r>
            <a:r>
              <a:rPr sz="1800" spc="110" dirty="0"/>
              <a:t> </a:t>
            </a:r>
            <a:r>
              <a:rPr sz="1800" dirty="0"/>
              <a:t>et</a:t>
            </a:r>
            <a:r>
              <a:rPr sz="1800" spc="110" dirty="0"/>
              <a:t> </a:t>
            </a:r>
            <a:r>
              <a:rPr sz="1800" dirty="0"/>
              <a:t>al.,</a:t>
            </a:r>
            <a:r>
              <a:rPr sz="1800" spc="110" dirty="0"/>
              <a:t> </a:t>
            </a:r>
            <a:r>
              <a:rPr sz="1800" dirty="0"/>
              <a:t>"Robot</a:t>
            </a:r>
            <a:r>
              <a:rPr sz="1800" spc="110" dirty="0"/>
              <a:t> </a:t>
            </a:r>
            <a:r>
              <a:rPr sz="1800" dirty="0"/>
              <a:t>Operating</a:t>
            </a:r>
            <a:r>
              <a:rPr sz="1800" spc="110" dirty="0"/>
              <a:t> </a:t>
            </a:r>
            <a:r>
              <a:rPr sz="1800" dirty="0"/>
              <a:t>System</a:t>
            </a:r>
            <a:r>
              <a:rPr sz="1800" spc="114" dirty="0"/>
              <a:t> </a:t>
            </a:r>
            <a:r>
              <a:rPr sz="1800" dirty="0"/>
              <a:t>2:</a:t>
            </a:r>
            <a:r>
              <a:rPr sz="1800" spc="110" dirty="0"/>
              <a:t> </a:t>
            </a:r>
            <a:r>
              <a:rPr sz="1800" dirty="0"/>
              <a:t>Design,</a:t>
            </a:r>
            <a:r>
              <a:rPr sz="1800" spc="45" dirty="0"/>
              <a:t> </a:t>
            </a:r>
            <a:r>
              <a:rPr sz="1800" dirty="0"/>
              <a:t>Architecture,</a:t>
            </a:r>
            <a:r>
              <a:rPr sz="1800" spc="110" dirty="0"/>
              <a:t> </a:t>
            </a:r>
            <a:r>
              <a:rPr sz="1800" dirty="0"/>
              <a:t>and</a:t>
            </a:r>
            <a:r>
              <a:rPr sz="1800" spc="110" dirty="0"/>
              <a:t> </a:t>
            </a:r>
            <a:r>
              <a:rPr sz="1800" dirty="0"/>
              <a:t>Uses</a:t>
            </a:r>
            <a:r>
              <a:rPr sz="1800" spc="110" dirty="0"/>
              <a:t> </a:t>
            </a:r>
            <a:r>
              <a:rPr sz="1800" dirty="0"/>
              <a:t>in</a:t>
            </a:r>
            <a:r>
              <a:rPr sz="1800" spc="114" dirty="0"/>
              <a:t> </a:t>
            </a:r>
            <a:r>
              <a:rPr sz="1800" dirty="0"/>
              <a:t>the</a:t>
            </a:r>
            <a:r>
              <a:rPr sz="1800" spc="110" dirty="0"/>
              <a:t> </a:t>
            </a:r>
            <a:r>
              <a:rPr sz="1800" dirty="0"/>
              <a:t>Wild,"</a:t>
            </a:r>
            <a:r>
              <a:rPr sz="1800" spc="105" dirty="0"/>
              <a:t> </a:t>
            </a:r>
            <a:r>
              <a:rPr sz="1800" dirty="0"/>
              <a:t>Science</a:t>
            </a:r>
            <a:r>
              <a:rPr sz="1800" spc="105" dirty="0"/>
              <a:t> </a:t>
            </a:r>
            <a:r>
              <a:rPr sz="1800" dirty="0"/>
              <a:t>Robotics,</a:t>
            </a:r>
            <a:r>
              <a:rPr sz="1800" spc="105" dirty="0"/>
              <a:t> </a:t>
            </a:r>
            <a:r>
              <a:rPr sz="1800" spc="-10" dirty="0"/>
              <a:t>2022. </a:t>
            </a:r>
            <a:r>
              <a:rPr sz="1800" spc="-10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https://doi.org/10.1126/scirobotics.abm6074</a:t>
            </a:r>
          </a:p>
          <a:p>
            <a:pPr marL="12700" marR="5080" indent="18732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00025" algn="l"/>
              </a:tabLst>
            </a:pPr>
            <a:r>
              <a:rPr sz="1800" b="1" dirty="0">
                <a:latin typeface="Arial"/>
                <a:cs typeface="Arial"/>
              </a:rPr>
              <a:t>Autonomous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Mobile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Robot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Navigation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/>
              <a:t>Loganathan</a:t>
            </a:r>
            <a:r>
              <a:rPr sz="1800" spc="35" dirty="0"/>
              <a:t> </a:t>
            </a:r>
            <a:r>
              <a:rPr sz="1800" dirty="0"/>
              <a:t>&amp;</a:t>
            </a:r>
            <a:r>
              <a:rPr sz="1800" spc="-25" dirty="0"/>
              <a:t> </a:t>
            </a:r>
            <a:r>
              <a:rPr sz="1800" dirty="0"/>
              <a:t>Ahmad,</a:t>
            </a:r>
            <a:r>
              <a:rPr sz="1800" spc="40" dirty="0"/>
              <a:t> </a:t>
            </a:r>
            <a:r>
              <a:rPr sz="1800" dirty="0"/>
              <a:t>"A</a:t>
            </a:r>
            <a:r>
              <a:rPr sz="1800" spc="-25" dirty="0"/>
              <a:t> </a:t>
            </a:r>
            <a:r>
              <a:rPr sz="1800" dirty="0"/>
              <a:t>Systematic</a:t>
            </a:r>
            <a:r>
              <a:rPr sz="1800" spc="40" dirty="0"/>
              <a:t> </a:t>
            </a:r>
            <a:r>
              <a:rPr sz="1800" dirty="0"/>
              <a:t>Review</a:t>
            </a:r>
            <a:r>
              <a:rPr sz="1800" spc="40" dirty="0"/>
              <a:t> </a:t>
            </a:r>
            <a:r>
              <a:rPr sz="1800" dirty="0"/>
              <a:t>on</a:t>
            </a:r>
            <a:r>
              <a:rPr sz="1800" spc="35" dirty="0"/>
              <a:t> </a:t>
            </a:r>
            <a:r>
              <a:rPr sz="1800" dirty="0"/>
              <a:t>Recent</a:t>
            </a:r>
            <a:r>
              <a:rPr sz="1800" spc="-20" dirty="0"/>
              <a:t> </a:t>
            </a:r>
            <a:r>
              <a:rPr sz="1800" dirty="0"/>
              <a:t>Advances</a:t>
            </a:r>
            <a:r>
              <a:rPr sz="1800" spc="35" dirty="0"/>
              <a:t> </a:t>
            </a:r>
            <a:r>
              <a:rPr sz="1800" dirty="0"/>
              <a:t>in</a:t>
            </a:r>
            <a:r>
              <a:rPr sz="1800" spc="-20" dirty="0"/>
              <a:t> </a:t>
            </a:r>
            <a:r>
              <a:rPr sz="1800" dirty="0"/>
              <a:t>Autonomous</a:t>
            </a:r>
            <a:r>
              <a:rPr sz="1800" spc="40" dirty="0"/>
              <a:t> </a:t>
            </a:r>
            <a:r>
              <a:rPr sz="1800" dirty="0"/>
              <a:t>Mobile</a:t>
            </a:r>
            <a:r>
              <a:rPr sz="1800" spc="35" dirty="0"/>
              <a:t> </a:t>
            </a:r>
            <a:r>
              <a:rPr sz="1800" dirty="0"/>
              <a:t>Robot</a:t>
            </a:r>
            <a:r>
              <a:rPr sz="1800" spc="40" dirty="0"/>
              <a:t> </a:t>
            </a:r>
            <a:r>
              <a:rPr sz="1800" spc="-10" dirty="0"/>
              <a:t>Navigation," Engineering</a:t>
            </a:r>
            <a:r>
              <a:rPr sz="1800" spc="-30" dirty="0"/>
              <a:t> </a:t>
            </a:r>
            <a:r>
              <a:rPr sz="1800" dirty="0"/>
              <a:t>Science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55" dirty="0"/>
              <a:t> </a:t>
            </a:r>
            <a:r>
              <a:rPr sz="1800" spc="-30" dirty="0"/>
              <a:t>Technology, </a:t>
            </a:r>
            <a:r>
              <a:rPr sz="1800" dirty="0"/>
              <a:t>2023</a:t>
            </a:r>
            <a:r>
              <a:rPr lang="en-US" sz="1800" dirty="0"/>
              <a:t>.</a:t>
            </a:r>
            <a:r>
              <a:rPr sz="1800" dirty="0"/>
              <a:t>.</a:t>
            </a:r>
            <a:r>
              <a:rPr sz="1800" spc="-30" dirty="0"/>
              <a:t> </a:t>
            </a:r>
            <a:r>
              <a:rPr lang="en-IN" sz="1800" spc="-10" dirty="0">
                <a:solidFill>
                  <a:schemeClr val="tx2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https://www.sciencedirect.com/science/article/pii/S2215098623000204?via%3Dihub</a:t>
            </a:r>
            <a:endParaRPr sz="1800" spc="-10" dirty="0">
              <a:solidFill>
                <a:schemeClr val="tx2">
                  <a:lumMod val="60000"/>
                  <a:lumOff val="40000"/>
                </a:schemeClr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2700" marR="5080" indent="19431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07010" algn="l"/>
              </a:tabLst>
            </a:pPr>
            <a:r>
              <a:rPr sz="1800" b="1" dirty="0">
                <a:latin typeface="Arial"/>
                <a:cs typeface="Arial"/>
              </a:rPr>
              <a:t>Smart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Mobile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Warehouse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Robot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dirty="0"/>
              <a:t>"Mechatronic</a:t>
            </a:r>
            <a:r>
              <a:rPr sz="1800" spc="45" dirty="0"/>
              <a:t> </a:t>
            </a:r>
            <a:r>
              <a:rPr sz="1800" dirty="0"/>
              <a:t>System</a:t>
            </a:r>
            <a:r>
              <a:rPr sz="1800" spc="35" dirty="0"/>
              <a:t> </a:t>
            </a:r>
            <a:r>
              <a:rPr sz="1800" dirty="0"/>
              <a:t>Design</a:t>
            </a:r>
            <a:r>
              <a:rPr sz="1800" spc="40" dirty="0"/>
              <a:t> </a:t>
            </a:r>
            <a:r>
              <a:rPr sz="1800" dirty="0"/>
              <a:t>of</a:t>
            </a:r>
            <a:r>
              <a:rPr sz="1800" spc="40" dirty="0"/>
              <a:t> </a:t>
            </a:r>
            <a:r>
              <a:rPr sz="1800" dirty="0"/>
              <a:t>a</a:t>
            </a:r>
            <a:r>
              <a:rPr sz="1800" spc="55" dirty="0"/>
              <a:t> </a:t>
            </a:r>
            <a:r>
              <a:rPr sz="1800" dirty="0"/>
              <a:t>Smart</a:t>
            </a:r>
            <a:r>
              <a:rPr sz="1800" spc="40" dirty="0"/>
              <a:t> </a:t>
            </a:r>
            <a:r>
              <a:rPr sz="1800" dirty="0"/>
              <a:t>Mobile</a:t>
            </a:r>
            <a:r>
              <a:rPr sz="1800" spc="40" dirty="0"/>
              <a:t> </a:t>
            </a:r>
            <a:r>
              <a:rPr sz="1800" dirty="0"/>
              <a:t>Warehouse</a:t>
            </a:r>
            <a:r>
              <a:rPr sz="1800" spc="35" dirty="0"/>
              <a:t> </a:t>
            </a:r>
            <a:r>
              <a:rPr sz="1800" dirty="0"/>
              <a:t>Robot</a:t>
            </a:r>
            <a:r>
              <a:rPr sz="1800" spc="40" dirty="0"/>
              <a:t> </a:t>
            </a:r>
            <a:r>
              <a:rPr sz="1800" dirty="0"/>
              <a:t>for</a:t>
            </a:r>
            <a:r>
              <a:rPr sz="1800" spc="-25" dirty="0"/>
              <a:t> </a:t>
            </a:r>
            <a:r>
              <a:rPr sz="1800" dirty="0"/>
              <a:t>Automated</a:t>
            </a:r>
            <a:r>
              <a:rPr sz="1800" spc="40" dirty="0"/>
              <a:t> </a:t>
            </a:r>
            <a:r>
              <a:rPr sz="1800" spc="-10" dirty="0"/>
              <a:t>Storage/Retrieval</a:t>
            </a:r>
            <a:r>
              <a:rPr sz="1800" spc="40" dirty="0"/>
              <a:t> </a:t>
            </a:r>
            <a:r>
              <a:rPr sz="1800" dirty="0"/>
              <a:t>Systems,"</a:t>
            </a:r>
            <a:r>
              <a:rPr sz="1800" spc="30" dirty="0"/>
              <a:t> </a:t>
            </a:r>
            <a:r>
              <a:rPr sz="1800" spc="-20" dirty="0"/>
              <a:t>IEEE </a:t>
            </a:r>
            <a:r>
              <a:rPr sz="1800" dirty="0"/>
              <a:t>ASYU,</a:t>
            </a:r>
            <a:r>
              <a:rPr sz="1800" spc="-30" dirty="0"/>
              <a:t> </a:t>
            </a:r>
            <a:r>
              <a:rPr sz="1800" dirty="0"/>
              <a:t>2020.</a:t>
            </a:r>
            <a:r>
              <a:rPr sz="1800" spc="-30" dirty="0"/>
              <a:t> </a:t>
            </a:r>
            <a:r>
              <a:rPr sz="1800" spc="-10" dirty="0">
                <a:solidFill>
                  <a:schemeClr val="tx2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https://doi.org/10.1109/ASYU50717.2020.9259882</a:t>
            </a:r>
          </a:p>
          <a:p>
            <a:pPr marL="12700" marR="6985" indent="211454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24154" algn="l"/>
              </a:tabLst>
            </a:pPr>
            <a:r>
              <a:rPr sz="1800" b="1" dirty="0">
                <a:latin typeface="Arial"/>
                <a:cs typeface="Arial"/>
              </a:rPr>
              <a:t>Warehouse</a:t>
            </a:r>
            <a:r>
              <a:rPr sz="1800" b="1" spc="1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Storage</a:t>
            </a:r>
            <a:r>
              <a:rPr sz="1800" b="1" spc="1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1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Retrieval</a:t>
            </a:r>
            <a:r>
              <a:rPr sz="1800" b="1" spc="145" dirty="0">
                <a:latin typeface="Arial"/>
                <a:cs typeface="Arial"/>
              </a:rPr>
              <a:t> </a:t>
            </a:r>
            <a:r>
              <a:rPr sz="1800" dirty="0" err="1"/>
              <a:t>Roodbergen</a:t>
            </a:r>
            <a:r>
              <a:rPr sz="1800" spc="180" dirty="0"/>
              <a:t> </a:t>
            </a:r>
            <a:r>
              <a:rPr sz="1800" dirty="0"/>
              <a:t>&amp;</a:t>
            </a:r>
            <a:r>
              <a:rPr sz="1800" spc="170" dirty="0"/>
              <a:t> </a:t>
            </a:r>
            <a:r>
              <a:rPr sz="1800" dirty="0"/>
              <a:t>Vis,</a:t>
            </a:r>
            <a:r>
              <a:rPr sz="1800" spc="180" dirty="0"/>
              <a:t> </a:t>
            </a:r>
            <a:r>
              <a:rPr sz="1800" dirty="0"/>
              <a:t>"A</a:t>
            </a:r>
            <a:r>
              <a:rPr sz="1800" spc="120" dirty="0"/>
              <a:t> </a:t>
            </a:r>
            <a:r>
              <a:rPr sz="1800" dirty="0"/>
              <a:t>Survey</a:t>
            </a:r>
            <a:r>
              <a:rPr sz="1800" spc="180" dirty="0"/>
              <a:t> </a:t>
            </a:r>
            <a:r>
              <a:rPr sz="1800" dirty="0"/>
              <a:t>of</a:t>
            </a:r>
            <a:r>
              <a:rPr sz="1800" spc="175" dirty="0"/>
              <a:t> </a:t>
            </a:r>
            <a:r>
              <a:rPr sz="1800" dirty="0"/>
              <a:t>Literature</a:t>
            </a:r>
            <a:r>
              <a:rPr sz="1800" spc="180" dirty="0"/>
              <a:t> </a:t>
            </a:r>
            <a:r>
              <a:rPr sz="1800" dirty="0"/>
              <a:t>on</a:t>
            </a:r>
            <a:r>
              <a:rPr sz="1800" spc="110" dirty="0"/>
              <a:t> </a:t>
            </a:r>
            <a:r>
              <a:rPr sz="1800" dirty="0"/>
              <a:t>Automated</a:t>
            </a:r>
            <a:r>
              <a:rPr sz="1800" spc="190" dirty="0"/>
              <a:t> </a:t>
            </a:r>
            <a:r>
              <a:rPr sz="1800" dirty="0"/>
              <a:t>Storage</a:t>
            </a:r>
            <a:r>
              <a:rPr sz="1800" spc="175" dirty="0"/>
              <a:t> </a:t>
            </a:r>
            <a:r>
              <a:rPr sz="1800" dirty="0"/>
              <a:t>and</a:t>
            </a:r>
            <a:r>
              <a:rPr sz="1800" spc="180" dirty="0"/>
              <a:t> </a:t>
            </a:r>
            <a:r>
              <a:rPr sz="1800" dirty="0"/>
              <a:t>Retrieval</a:t>
            </a:r>
            <a:r>
              <a:rPr sz="1800" spc="175" dirty="0"/>
              <a:t> </a:t>
            </a:r>
            <a:r>
              <a:rPr sz="1800" dirty="0"/>
              <a:t>Systems,"</a:t>
            </a:r>
            <a:r>
              <a:rPr sz="1800" spc="180" dirty="0"/>
              <a:t> </a:t>
            </a:r>
            <a:r>
              <a:rPr sz="1800" dirty="0"/>
              <a:t>European</a:t>
            </a:r>
            <a:r>
              <a:rPr sz="1800" spc="175" dirty="0"/>
              <a:t> </a:t>
            </a:r>
            <a:r>
              <a:rPr sz="1800" dirty="0"/>
              <a:t>Journal</a:t>
            </a:r>
            <a:r>
              <a:rPr sz="1800" spc="180" dirty="0"/>
              <a:t> </a:t>
            </a:r>
            <a:r>
              <a:rPr sz="1800" spc="-25" dirty="0"/>
              <a:t>of </a:t>
            </a:r>
            <a:r>
              <a:rPr sz="1800" spc="-10" dirty="0"/>
              <a:t>Operational</a:t>
            </a:r>
            <a:r>
              <a:rPr sz="1800" spc="-40" dirty="0"/>
              <a:t> </a:t>
            </a:r>
            <a:r>
              <a:rPr sz="1800" dirty="0"/>
              <a:t>Research,</a:t>
            </a:r>
            <a:r>
              <a:rPr sz="1800" spc="-40" dirty="0"/>
              <a:t> </a:t>
            </a:r>
            <a:r>
              <a:rPr sz="1800" dirty="0"/>
              <a:t>2009.</a:t>
            </a:r>
            <a:r>
              <a:rPr sz="1800" spc="-40" dirty="0"/>
              <a:t> </a:t>
            </a:r>
            <a:r>
              <a:rPr sz="1800" spc="-10" dirty="0">
                <a:solidFill>
                  <a:schemeClr val="tx2">
                    <a:lumMod val="60000"/>
                    <a:lumOff val="4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https://www.sciencedirect.com/science/article/pii/S0377221708001598</a:t>
            </a:r>
          </a:p>
          <a:p>
            <a:pPr marL="194945" indent="-182245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194945" algn="l"/>
              </a:tabLst>
            </a:pPr>
            <a:r>
              <a:rPr sz="1800" b="1" dirty="0">
                <a:latin typeface="Arial"/>
                <a:cs typeface="Arial"/>
              </a:rPr>
              <a:t>Mobile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Robot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Navigation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dirty="0" err="1"/>
              <a:t>Macenski</a:t>
            </a:r>
            <a:r>
              <a:rPr sz="1800" spc="-30" dirty="0"/>
              <a:t> </a:t>
            </a:r>
            <a:r>
              <a:rPr sz="1800" dirty="0"/>
              <a:t>et</a:t>
            </a:r>
            <a:r>
              <a:rPr sz="1800" spc="-30" dirty="0"/>
              <a:t> </a:t>
            </a:r>
            <a:r>
              <a:rPr sz="1800" dirty="0"/>
              <a:t>al.,</a:t>
            </a:r>
            <a:r>
              <a:rPr sz="1800" spc="-30" dirty="0"/>
              <a:t> </a:t>
            </a:r>
            <a:r>
              <a:rPr sz="1800" dirty="0"/>
              <a:t>"The</a:t>
            </a:r>
            <a:r>
              <a:rPr sz="1800" spc="-30" dirty="0"/>
              <a:t> </a:t>
            </a:r>
            <a:r>
              <a:rPr sz="1800" dirty="0"/>
              <a:t>Marathon</a:t>
            </a:r>
            <a:r>
              <a:rPr sz="1800" spc="-25" dirty="0"/>
              <a:t> </a:t>
            </a:r>
            <a:r>
              <a:rPr sz="1800" dirty="0"/>
              <a:t>2:</a:t>
            </a:r>
            <a:r>
              <a:rPr sz="1800" spc="-85" dirty="0"/>
              <a:t> </a:t>
            </a:r>
            <a:r>
              <a:rPr sz="1800" dirty="0"/>
              <a:t>A</a:t>
            </a:r>
            <a:r>
              <a:rPr sz="1800" spc="-90" dirty="0"/>
              <a:t> </a:t>
            </a:r>
            <a:r>
              <a:rPr sz="1800" spc="-10" dirty="0"/>
              <a:t>Navigation</a:t>
            </a:r>
            <a:r>
              <a:rPr sz="1800" spc="-30" dirty="0"/>
              <a:t> </a:t>
            </a:r>
            <a:r>
              <a:rPr sz="1800" dirty="0"/>
              <a:t>System,"</a:t>
            </a:r>
            <a:r>
              <a:rPr sz="1800" spc="-35" dirty="0"/>
              <a:t> </a:t>
            </a:r>
            <a:r>
              <a:rPr sz="1800" dirty="0"/>
              <a:t>IROS,</a:t>
            </a:r>
            <a:r>
              <a:rPr sz="1800" spc="-30" dirty="0"/>
              <a:t> </a:t>
            </a:r>
            <a:r>
              <a:rPr sz="1800" dirty="0"/>
              <a:t>2020.</a:t>
            </a:r>
            <a:r>
              <a:rPr sz="1800" spc="-30" dirty="0"/>
              <a:t> </a:t>
            </a:r>
            <a:r>
              <a:rPr sz="1800" spc="-10" dirty="0">
                <a:solidFill>
                  <a:schemeClr val="tx2">
                    <a:lumMod val="60000"/>
                    <a:lumOff val="4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https://doi.org/10.1109/IROS45743.2020.9341207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824</Words>
  <Application>Microsoft Office PowerPoint</Application>
  <PresentationFormat>Widescreen</PresentationFormat>
  <Paragraphs>142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Courier New</vt:lpstr>
      <vt:lpstr>Georgia</vt:lpstr>
      <vt:lpstr>Microsoft Sans Serif</vt:lpstr>
      <vt:lpstr>Segoe UI Symbol</vt:lpstr>
      <vt:lpstr>Times New Roman</vt:lpstr>
      <vt:lpstr>Trebuchet MS</vt:lpstr>
      <vt:lpstr>Office Theme</vt:lpstr>
      <vt:lpstr>SMART INDIA HACKATHON 2026</vt:lpstr>
      <vt:lpstr>IDEA TITLE Autonomous Multi-Level Rack Retrieval Robot for Adaptive Warehouse Automation</vt:lpstr>
      <vt:lpstr>PowerPoint Presentation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YUVARAAJA GANESH V</cp:lastModifiedBy>
  <cp:revision>2</cp:revision>
  <dcterms:created xsi:type="dcterms:W3CDTF">2026-09-29T13:25:35Z</dcterms:created>
  <dcterms:modified xsi:type="dcterms:W3CDTF">2026-09-30T02:48:00Z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2026-09-29T00:00:00Z</vt:filetime>
  </property>
</Properties>
</file>